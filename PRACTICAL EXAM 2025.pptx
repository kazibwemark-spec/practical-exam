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</a:t>
            </a:r>
          </a:p>
          <a:p>
            <a:r>
              <a:rPr lang="en-US" dirty="0" err="1" smtClean="0"/>
              <a:t>Reg</a:t>
            </a:r>
            <a:r>
              <a:rPr lang="en-US" dirty="0" smtClean="0"/>
              <a:t> no. 2023-B072-30327</a:t>
            </a:r>
          </a:p>
          <a:p>
            <a:r>
              <a:rPr lang="en-US" dirty="0" smtClean="0"/>
              <a:t>Uganda martyrs university</a:t>
            </a:r>
          </a:p>
          <a:p>
            <a:r>
              <a:rPr lang="en-US" dirty="0" err="1" smtClean="0"/>
              <a:t>Masaka</a:t>
            </a:r>
            <a:r>
              <a:rPr lang="en-US" smtClean="0"/>
              <a:t> campus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PRESENTATION OF THE PRACTICAL EXAM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621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DATA PREPARATION.</a:t>
            </a:r>
            <a:br>
              <a:rPr lang="en-US" dirty="0" smtClean="0"/>
            </a:br>
            <a:r>
              <a:rPr lang="en-US" dirty="0" smtClean="0"/>
              <a:t>Loading the dataset into </a:t>
            </a:r>
            <a:r>
              <a:rPr lang="en-US" dirty="0" err="1" smtClean="0"/>
              <a:t>dataframe</a:t>
            </a:r>
            <a:endParaRPr lang="en-US" dirty="0"/>
          </a:p>
        </p:txBody>
      </p:sp>
      <p:pic>
        <p:nvPicPr>
          <p:cNvPr id="1026" name="Picture 2" descr="C:\Users\mark kazibwe\Pictures\Camera Roll\Screenshot 2025-12-13 120125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05477" y="1593540"/>
            <a:ext cx="4896533" cy="4439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8176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 of </a:t>
            </a:r>
            <a:r>
              <a:rPr lang="en-US" dirty="0" err="1" smtClean="0"/>
              <a:t>dataframe</a:t>
            </a:r>
            <a:endParaRPr lang="en-US" dirty="0"/>
          </a:p>
        </p:txBody>
      </p:sp>
      <p:pic>
        <p:nvPicPr>
          <p:cNvPr id="2050" name="Picture 2" descr="C:\Users\mark kazibwe\Pictures\Camera Roll\Screenshot 2025-12-13 120217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752600"/>
            <a:ext cx="83820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8072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Transaction format for </a:t>
            </a:r>
            <a:r>
              <a:rPr lang="en-US" dirty="0" err="1" smtClean="0"/>
              <a:t>apriori</a:t>
            </a:r>
            <a:r>
              <a:rPr lang="en-US" dirty="0" smtClean="0"/>
              <a:t> algorithm and one-hot encoded format</a:t>
            </a:r>
            <a:endParaRPr lang="en-US" dirty="0"/>
          </a:p>
        </p:txBody>
      </p:sp>
      <p:pic>
        <p:nvPicPr>
          <p:cNvPr id="3074" name="Picture 2" descr="C:\Users\mark kazibwe\Pictures\Camera Roll\Screenshot 2025-12-13 120346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1600200"/>
            <a:ext cx="8077200" cy="3962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9992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of the algorithm</a:t>
            </a:r>
            <a:endParaRPr lang="en-US" dirty="0"/>
          </a:p>
        </p:txBody>
      </p:sp>
      <p:pic>
        <p:nvPicPr>
          <p:cNvPr id="4098" name="Picture 2" descr="C:\Users\mark kazibwe\Pictures\Camera Roll\Screenshot 2025-12-13 120447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371600"/>
            <a:ext cx="7467599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802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Apriori</a:t>
            </a:r>
            <a:r>
              <a:rPr lang="en-US" dirty="0" smtClean="0"/>
              <a:t> algorithm</a:t>
            </a:r>
            <a:endParaRPr lang="en-US" dirty="0"/>
          </a:p>
        </p:txBody>
      </p:sp>
      <p:pic>
        <p:nvPicPr>
          <p:cNvPr id="5122" name="Picture 2" descr="C:\Users\mark kazibwe\Pictures\Camera Roll\Screenshot 2025-12-13 120629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752600"/>
            <a:ext cx="76962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6972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Frequent </a:t>
            </a:r>
            <a:r>
              <a:rPr lang="en-US" dirty="0" err="1" smtClean="0"/>
              <a:t>itemset</a:t>
            </a:r>
            <a:r>
              <a:rPr lang="en-US" dirty="0" smtClean="0"/>
              <a:t> generation</a:t>
            </a:r>
            <a:endParaRPr lang="en-US" dirty="0"/>
          </a:p>
        </p:txBody>
      </p:sp>
      <p:pic>
        <p:nvPicPr>
          <p:cNvPr id="6146" name="Picture 2" descr="C:\Users\mark kazibwe\Pictures\Camera Roll\Screenshot 2025-12-13 120719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1676400"/>
            <a:ext cx="76962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9457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Association rule generation</a:t>
            </a:r>
            <a:endParaRPr lang="en-US" dirty="0"/>
          </a:p>
        </p:txBody>
      </p:sp>
      <p:pic>
        <p:nvPicPr>
          <p:cNvPr id="7170" name="Picture 2" descr="C:\Users\mark kazibwe\Pictures\Camera Roll\Screenshot 2025-12-13 120802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52600"/>
            <a:ext cx="8229600" cy="4571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1717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Strongest rule based on the lift</a:t>
            </a:r>
            <a:endParaRPr lang="en-US" dirty="0"/>
          </a:p>
        </p:txBody>
      </p:sp>
      <p:pic>
        <p:nvPicPr>
          <p:cNvPr id="8194" name="Picture 2" descr="C:\Users\mark kazibwe\Pictures\Camera Roll\Screenshot 2025-12-13 120937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1625" y="2548904"/>
            <a:ext cx="8504238" cy="339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8475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of the rules</a:t>
            </a:r>
            <a:endParaRPr lang="en-US" dirty="0"/>
          </a:p>
        </p:txBody>
      </p:sp>
      <p:pic>
        <p:nvPicPr>
          <p:cNvPr id="9218" name="Picture 2" descr="C:\Users\mark kazibwe\Pictures\Camera Roll\Screenshot 2025-12-13 121029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28800"/>
            <a:ext cx="8382000" cy="419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8610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INTERPRETATION OF THE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The three strongest rules based on the lift</a:t>
            </a:r>
          </a:p>
          <a:p>
            <a:pPr marL="0" indent="0">
              <a:buNone/>
            </a:pPr>
            <a:r>
              <a:rPr lang="en-US" sz="2000" dirty="0" smtClean="0"/>
              <a:t> </a:t>
            </a:r>
            <a:r>
              <a:rPr lang="en-US" sz="2000" dirty="0"/>
              <a:t>Rule 1: Beer → Diapers</a:t>
            </a:r>
          </a:p>
          <a:p>
            <a:pPr marL="0" lvl="0" indent="0">
              <a:buNone/>
            </a:pPr>
            <a:r>
              <a:rPr lang="en-US" sz="2000" dirty="0" smtClean="0"/>
              <a:t>        Support </a:t>
            </a:r>
            <a:r>
              <a:rPr lang="en-US" sz="2000" dirty="0"/>
              <a:t>= 0.3</a:t>
            </a:r>
          </a:p>
          <a:p>
            <a:pPr marL="0" lvl="0" indent="0">
              <a:buNone/>
            </a:pPr>
            <a:r>
              <a:rPr lang="en-US" sz="2000" dirty="0" smtClean="0"/>
              <a:t>        Confidence </a:t>
            </a:r>
            <a:r>
              <a:rPr lang="en-US" sz="2000" dirty="0"/>
              <a:t>= 1.0</a:t>
            </a:r>
          </a:p>
          <a:p>
            <a:pPr marL="0" lvl="0" indent="0">
              <a:buNone/>
            </a:pPr>
            <a:r>
              <a:rPr lang="en-US" sz="2000" dirty="0" smtClean="0"/>
              <a:t>        Lift </a:t>
            </a:r>
            <a:r>
              <a:rPr lang="en-US" sz="2000" dirty="0"/>
              <a:t>= 2.50 (Highest)</a:t>
            </a:r>
          </a:p>
          <a:p>
            <a:pPr marL="0" indent="0">
              <a:buNone/>
            </a:pPr>
            <a:r>
              <a:rPr lang="en-US" sz="2000" b="1" dirty="0"/>
              <a:t>Interpretation: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      Customers </a:t>
            </a:r>
            <a:r>
              <a:rPr lang="en-US" sz="2000" dirty="0"/>
              <a:t>who buy Beer always buy Diapers in this dataset.</a:t>
            </a:r>
            <a:br>
              <a:rPr lang="en-US" sz="2000" dirty="0"/>
            </a:br>
            <a:r>
              <a:rPr lang="en-US" sz="2000" dirty="0" smtClean="0"/>
              <a:t>       They </a:t>
            </a:r>
            <a:r>
              <a:rPr lang="en-US" sz="2000" dirty="0"/>
              <a:t>frequently appear together much more than chance (lift &gt; 1).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68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 two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 </a:t>
            </a:r>
            <a:r>
              <a:rPr lang="en-US" dirty="0" smtClean="0"/>
              <a:t>Rule </a:t>
            </a:r>
            <a:r>
              <a:rPr lang="en-US" dirty="0"/>
              <a:t>2: Diapers → Beer</a:t>
            </a:r>
          </a:p>
          <a:p>
            <a:pPr marL="0" lvl="0" indent="0">
              <a:buNone/>
            </a:pPr>
            <a:r>
              <a:rPr lang="en-US" dirty="0" smtClean="0"/>
              <a:t>         Support </a:t>
            </a:r>
            <a:r>
              <a:rPr lang="en-US" dirty="0"/>
              <a:t>= 0.3</a:t>
            </a:r>
          </a:p>
          <a:p>
            <a:pPr marL="0" lvl="0" indent="0">
              <a:buNone/>
            </a:pPr>
            <a:r>
              <a:rPr lang="en-US" dirty="0" smtClean="0"/>
              <a:t>         Confidence </a:t>
            </a:r>
            <a:r>
              <a:rPr lang="en-US" dirty="0"/>
              <a:t>= 0.75</a:t>
            </a:r>
          </a:p>
          <a:p>
            <a:pPr marL="0" lvl="0" indent="0">
              <a:buNone/>
            </a:pPr>
            <a:r>
              <a:rPr lang="en-US" dirty="0" smtClean="0"/>
              <a:t>         Lift </a:t>
            </a:r>
            <a:r>
              <a:rPr lang="en-US" dirty="0"/>
              <a:t>= 2.50</a:t>
            </a:r>
          </a:p>
          <a:p>
            <a:pPr marL="0" indent="0">
              <a:buNone/>
            </a:pPr>
            <a:r>
              <a:rPr lang="en-US" b="1" dirty="0" smtClean="0"/>
              <a:t>   Interpretation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Customers </a:t>
            </a:r>
            <a:r>
              <a:rPr lang="en-US" dirty="0"/>
              <a:t>buying Diapers are very likely to also buy Beer.</a:t>
            </a:r>
            <a:br>
              <a:rPr lang="en-US" dirty="0"/>
            </a:br>
            <a:r>
              <a:rPr lang="en-US" dirty="0"/>
              <a:t>This indicates a strong cross-selling relationship.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436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 three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Rule </a:t>
            </a:r>
            <a:r>
              <a:rPr lang="en-US" dirty="0"/>
              <a:t>3: Eggs → Milk</a:t>
            </a:r>
          </a:p>
          <a:p>
            <a:pPr marL="0" lvl="0" indent="0">
              <a:buNone/>
            </a:pPr>
            <a:r>
              <a:rPr lang="en-US" dirty="0" smtClean="0"/>
              <a:t>        Support </a:t>
            </a:r>
            <a:r>
              <a:rPr lang="en-US" dirty="0"/>
              <a:t>= 0.3</a:t>
            </a:r>
          </a:p>
          <a:p>
            <a:pPr marL="0" lvl="0" indent="0">
              <a:buNone/>
            </a:pPr>
            <a:r>
              <a:rPr lang="en-US" dirty="0" smtClean="0"/>
              <a:t>       Confidence </a:t>
            </a:r>
            <a:r>
              <a:rPr lang="en-US" dirty="0"/>
              <a:t>= 1.0</a:t>
            </a:r>
          </a:p>
          <a:p>
            <a:pPr marL="0" lvl="0" indent="0">
              <a:buNone/>
            </a:pPr>
            <a:r>
              <a:rPr lang="en-US" dirty="0" smtClean="0"/>
              <a:t>       Lift </a:t>
            </a:r>
            <a:r>
              <a:rPr lang="en-US" dirty="0"/>
              <a:t>= 1.43</a:t>
            </a:r>
          </a:p>
          <a:p>
            <a:pPr marL="0" indent="0">
              <a:buNone/>
            </a:pPr>
            <a:r>
              <a:rPr lang="en-US" b="1" dirty="0" smtClean="0"/>
              <a:t>  Interpretation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Every </a:t>
            </a:r>
            <a:r>
              <a:rPr lang="en-US" dirty="0"/>
              <a:t>customer who buys Eggs also buys Milk.</a:t>
            </a:r>
            <a:br>
              <a:rPr lang="en-US" dirty="0"/>
            </a:br>
            <a:r>
              <a:rPr lang="en-US" dirty="0"/>
              <a:t>Milk is a complementary product often bought with breakfast ingredients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999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 </a:t>
            </a:r>
            <a:r>
              <a:rPr lang="en-US" b="1" dirty="0"/>
              <a:t>Bundle or co-locate Beer and Diapers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Since </a:t>
            </a:r>
            <a:r>
              <a:rPr lang="en-US" dirty="0"/>
              <a:t>the lift between Beer ↔ Diapers is very high:</a:t>
            </a:r>
          </a:p>
          <a:p>
            <a:pPr marL="0" lvl="0" indent="0">
              <a:buNone/>
            </a:pPr>
            <a:r>
              <a:rPr lang="en-US" dirty="0" smtClean="0"/>
              <a:t>       Place </a:t>
            </a:r>
            <a:r>
              <a:rPr lang="en-US" dirty="0"/>
              <a:t>Beer close to Diapers</a:t>
            </a:r>
          </a:p>
          <a:p>
            <a:pPr marL="0" lvl="0" indent="0">
              <a:buNone/>
            </a:pPr>
            <a:r>
              <a:rPr lang="en-US" dirty="0" smtClean="0"/>
              <a:t>       Run </a:t>
            </a:r>
            <a:r>
              <a:rPr lang="en-US" b="1" dirty="0"/>
              <a:t>bundle promotions</a:t>
            </a:r>
            <a:r>
              <a:rPr lang="en-US" dirty="0"/>
              <a:t> </a:t>
            </a:r>
            <a:r>
              <a:rPr lang="en-US" dirty="0" smtClean="0"/>
              <a:t>for example  Buy </a:t>
            </a:r>
            <a:r>
              <a:rPr lang="en-US" dirty="0"/>
              <a:t>Diapers, get Beer at </a:t>
            </a:r>
            <a:r>
              <a:rPr lang="en-US" dirty="0" smtClean="0"/>
              <a:t>discount</a:t>
            </a:r>
            <a:endParaRPr lang="en-US" dirty="0"/>
          </a:p>
          <a:p>
            <a:pPr marL="0" lvl="0" indent="0">
              <a:buNone/>
            </a:pPr>
            <a:r>
              <a:rPr lang="en-US" dirty="0" smtClean="0"/>
              <a:t>      This </a:t>
            </a:r>
            <a:r>
              <a:rPr lang="en-US" dirty="0"/>
              <a:t>increases impulse buys from parents buying diapers.</a:t>
            </a:r>
          </a:p>
          <a:p>
            <a:pPr marL="0" indent="0">
              <a:buNone/>
            </a:pPr>
            <a:r>
              <a:rPr lang="en-US" b="1" dirty="0" smtClean="0"/>
              <a:t> Promote </a:t>
            </a:r>
            <a:r>
              <a:rPr lang="en-US" b="1" dirty="0"/>
              <a:t>Eggs + Milk combos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Since </a:t>
            </a:r>
            <a:r>
              <a:rPr lang="en-US" dirty="0"/>
              <a:t>Eggs → Milk has strong lift:</a:t>
            </a:r>
          </a:p>
          <a:p>
            <a:pPr marL="0" lvl="0" indent="0">
              <a:buNone/>
            </a:pPr>
            <a:r>
              <a:rPr lang="en-US" dirty="0" smtClean="0"/>
              <a:t>       Make </a:t>
            </a:r>
            <a:r>
              <a:rPr lang="en-US" dirty="0"/>
              <a:t>a breakfast combo promotion (Milk + </a:t>
            </a:r>
            <a:r>
              <a:rPr lang="en-US" dirty="0" smtClean="0"/>
              <a:t>Eggs)</a:t>
            </a:r>
          </a:p>
          <a:p>
            <a:pPr marL="0" lvl="0" indent="0">
              <a:buNone/>
            </a:pPr>
            <a:r>
              <a:rPr lang="en-US" dirty="0" smtClean="0"/>
              <a:t>       Place Eggs, Milk, and Bread in a nearby section</a:t>
            </a:r>
          </a:p>
          <a:p>
            <a:pPr marL="0" lvl="0" indent="0">
              <a:buNone/>
            </a:pPr>
            <a:r>
              <a:rPr lang="en-US" dirty="0" smtClean="0"/>
              <a:t>       Offer </a:t>
            </a:r>
            <a:r>
              <a:rPr lang="en-US" dirty="0"/>
              <a:t>discount coupons for buying the combination.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758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55</TotalTime>
  <Words>267</Words>
  <Application>Microsoft Office PowerPoint</Application>
  <PresentationFormat>On-screen Show (4:3)</PresentationFormat>
  <Paragraphs>47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Civic</vt:lpstr>
      <vt:lpstr>PRESENTATION OF THE PRACTICAL EXAM</vt:lpstr>
      <vt:lpstr>DATA PREPARATION. Loading the dataset into dataframe</vt:lpstr>
      <vt:lpstr>Result of dataframe</vt:lpstr>
      <vt:lpstr>Transaction format for apriori algorithm and one-hot encoded format</vt:lpstr>
      <vt:lpstr>Results of the algorithm</vt:lpstr>
      <vt:lpstr>Apriori algorithm</vt:lpstr>
      <vt:lpstr>Frequent itemset generation</vt:lpstr>
      <vt:lpstr>Association rule generation</vt:lpstr>
      <vt:lpstr>Strongest rule based on the lift</vt:lpstr>
      <vt:lpstr>Results of the rules</vt:lpstr>
      <vt:lpstr> INTERPRETATION OF THE RULES</vt:lpstr>
      <vt:lpstr>Rule two</vt:lpstr>
      <vt:lpstr>Rule three</vt:lpstr>
      <vt:lpstr>Business recommendations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OF THE PRACTICAL EXAM</dc:title>
  <dc:creator>mark kazibwe</dc:creator>
  <cp:lastModifiedBy>mark kazibwe</cp:lastModifiedBy>
  <cp:revision>7</cp:revision>
  <dcterms:created xsi:type="dcterms:W3CDTF">2006-08-16T00:00:00Z</dcterms:created>
  <dcterms:modified xsi:type="dcterms:W3CDTF">2025-12-13T20:50:03Z</dcterms:modified>
</cp:coreProperties>
</file>